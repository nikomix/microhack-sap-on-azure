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8415" y="0"/>
            <a:ext cx="3383280" cy="2286000"/>
          </a:xfrm>
          <a:prstGeom prst="rect">
            <a:avLst/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71455" y="0"/>
            <a:ext cx="1920240" cy="1280160"/>
          </a:xfrm>
          <a:prstGeom prst="rect">
            <a:avLst/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4023360" cy="256032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6012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SAP ON MICROSOFT AZURE · ADVANCED SPECIALIZATION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2194560" cy="603504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C2  ·  B.4.2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68880"/>
            <a:ext cx="11057839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Partner Onboarding &amp; Migration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9768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E8EEF6"/>
                </a:solidFill>
                <a:latin typeface="Segoe UI"/>
              </a:rPr>
              <a:t>Generate the HLD/LLD/runbook/KT/hypercare onboarding pack with Copilot and wire up ACSS, Azure Monitor for SAP and Azure Backup.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0E6FF"/>
                </a:solidFill>
                <a:latin typeface="Segoe UI Semibold"/>
              </a:rPr>
              <a:t>⏱  ~75 min</a:t>
            </a:r>
            <a:r>
              <a:rPr sz="1500" b="1" i="0">
                <a:solidFill>
                  <a:srgbClr val="605E5C"/>
                </a:solidFill>
                <a:latin typeface="Segoe UI Semibold"/>
              </a:rPr>
              <a:t>   |   </a:t>
            </a:r>
            <a:r>
              <a:rPr sz="1500" b="1" i="0">
                <a:solidFill>
                  <a:srgbClr val="50E6FF"/>
                </a:solidFill>
                <a:latin typeface="Segoe UI Semibold"/>
              </a:rPr>
              <a:t>🧑‍🏫  Facilitator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C2 · 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By the end of this lab you can…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" y="1975104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37360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Map SAP Activate phases to the Azure migration workstream and the service introduced at each phase.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16352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816352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3054096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816352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Register the landscape with ACSS (VIS) and enable Azure Monitor for SAP and Azure Backup for HANA — portal &amp; CLI.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95344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895344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" y="4133088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895344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Use </a:t>
            </a:r>
            <a:r>
              <a:rPr sz="1650" b="1" i="0">
                <a:solidFill>
                  <a:srgbClr val="005A9E"/>
                </a:solidFill>
                <a:latin typeface="Consolas"/>
              </a:rPr>
              <a:t>#generate-hld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and </a:t>
            </a:r>
            <a:r>
              <a:rPr sz="1650" b="1" i="0">
                <a:solidFill>
                  <a:srgbClr val="005A9E"/>
                </a:solidFill>
                <a:latin typeface="Consolas"/>
              </a:rPr>
              <a:t>#generate-runbook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to produce a repeatable onboarding pack: HLD, LLD, runbook, KT, hypercare.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974336"/>
            <a:ext cx="11057839" cy="932688"/>
          </a:xfrm>
          <a:prstGeom prst="roundRect">
            <a:avLst>
              <a:gd name="adj" fmla="val 8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974336"/>
            <a:ext cx="109728" cy="93268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9536" y="5212080"/>
            <a:ext cx="457200" cy="4572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74336"/>
            <a:ext cx="9777679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 i="0">
                <a:solidFill>
                  <a:srgbClr val="242424"/>
                </a:solidFill>
                <a:latin typeface="Segoe UI"/>
              </a:rPr>
              <a:t>File the onboarding pack as B.4.2 evidence using the </a:t>
            </a:r>
            <a:r>
              <a:rPr sz="1650" b="0" i="0">
                <a:solidFill>
                  <a:srgbClr val="005A9E"/>
                </a:solidFill>
                <a:latin typeface="Consolas"/>
              </a:rPr>
              <a:t>[ControlRef]_[DocumentType]_v[N].pdf</a:t>
            </a:r>
            <a:r>
              <a:rPr sz="1650" b="0" i="0">
                <a:solidFill>
                  <a:srgbClr val="242424"/>
                </a:solidFill>
                <a:latin typeface="Segoe UI"/>
              </a:rPr>
              <a:t> convention.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C2 · SAP ACTIVATE → AZURE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The migration backbone for your HLD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732024"/>
            <a:ext cx="10509199" cy="40640"/>
          </a:xfrm>
          <a:prstGeom prst="rect">
            <a:avLst/>
          </a:prstGeom>
          <a:solidFill>
            <a:srgbClr val="50E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2468880"/>
            <a:ext cx="1660093" cy="566928"/>
          </a:xfrm>
          <a:prstGeom prst="roundRect">
            <a:avLst>
              <a:gd name="adj" fmla="val 16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468880"/>
            <a:ext cx="166009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1  Discover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200400"/>
            <a:ext cx="1660093" cy="214884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3200400"/>
            <a:ext cx="1404061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Landscape assessment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SAPS sizing for M/Mv3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ANF throughput 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46477" y="2468880"/>
            <a:ext cx="1660093" cy="566928"/>
          </a:xfrm>
          <a:prstGeom prst="roundRect">
            <a:avLst>
              <a:gd name="adj" fmla="val 16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6477" y="2468880"/>
            <a:ext cx="166009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2  Prepare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46477" y="3200400"/>
            <a:ext cx="1660093" cy="214884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4493" y="3200400"/>
            <a:ext cx="1404061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Deploy Bicep landing zone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ExpressRoute / VPN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ACSS pre-registration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6026" y="2468880"/>
            <a:ext cx="1660093" cy="566928"/>
          </a:xfrm>
          <a:prstGeom prst="roundRect">
            <a:avLst>
              <a:gd name="adj" fmla="val 16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6026" y="2468880"/>
            <a:ext cx="166009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3  Explore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6026" y="3200400"/>
            <a:ext cx="1660093" cy="214884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4042" y="3200400"/>
            <a:ext cx="1404061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Dev migration (DMO)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First ACSS VIS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Monitor + HANA backup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5575" y="2468880"/>
            <a:ext cx="1660093" cy="566928"/>
          </a:xfrm>
          <a:prstGeom prst="roundRect">
            <a:avLst>
              <a:gd name="adj" fmla="val 16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05575" y="2468880"/>
            <a:ext cx="166009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4  Realise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5575" y="3200400"/>
            <a:ext cx="1660093" cy="214884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3591" y="3200400"/>
            <a:ext cx="1404061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QA + Prod migration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HSR cutover playbook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Backint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5124" y="2468880"/>
            <a:ext cx="1660093" cy="566928"/>
          </a:xfrm>
          <a:prstGeom prst="roundRect">
            <a:avLst>
              <a:gd name="adj" fmla="val 16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85124" y="2468880"/>
            <a:ext cx="166009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5  Deploy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5124" y="3200400"/>
            <a:ext cx="1660093" cy="214884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3140" y="3200400"/>
            <a:ext cx="1404061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HSR takeover (&lt;30s)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DNS / LB failover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SID check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4673" y="2468880"/>
            <a:ext cx="1660093" cy="566928"/>
          </a:xfrm>
          <a:prstGeom prst="roundRect">
            <a:avLst>
              <a:gd name="adj" fmla="val 16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4673" y="2468880"/>
            <a:ext cx="1660093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6  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4673" y="3200400"/>
            <a:ext cx="1660093" cy="2148840"/>
          </a:xfrm>
          <a:prstGeom prst="roundRect">
            <a:avLst>
              <a:gd name="adj" fmla="val 6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2689" y="3200400"/>
            <a:ext cx="1404061" cy="2148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4-week hypercare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SLA monitoring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42424"/>
                </a:solidFill>
                <a:latin typeface="Segoe UI"/>
              </a:rPr>
              <a:t>KT sign-off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C2 · REFERENCE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What turns on, and when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91640"/>
          <a:ext cx="11057838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7519"/>
                <a:gridCol w="4091400"/>
                <a:gridCol w="5528919"/>
              </a:tblGrid>
              <a:tr h="36576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Phase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Azure service / feature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 Semibold"/>
                        </a:rPr>
                        <a:t>Purpose</a:t>
                      </a:r>
                    </a:p>
                  </a:txBody>
                  <a:tcPr anchor="ctr" marL="91440" marR="73152" marT="36576" marB="36576"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Prepare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Azure Center for SAP Solutions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Guided deploy, VIS registration, insights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Prepare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Azure NetApp Files (NFS 4.1)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/sapmnt, /usr/trans, HANA log + data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Realise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Azure Monitor for SAP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HANA, OS, NetWeaver metrics + alerting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Realise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Azure Backup for HANA (Backint)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Policy backups to Recovery Services Vault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Deploy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Availability Zones + HSR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Zero-downtime cutover, RPO ≈ 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Run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Azure Update Manager + ACSS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42424"/>
                          </a:solidFill>
                          <a:latin typeface="Segoe UI"/>
                        </a:rPr>
                        <a:t>Patch compliance, CPU/memory trending</a:t>
                      </a:r>
                    </a:p>
                  </a:txBody>
                  <a:tcPr anchor="ctr" marL="91440" marR="73152" marT="27432" marB="27432"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C2 · GUIDED AZURE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Wire up the management plane (portal + CLI)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1057839" cy="998982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2072259"/>
            <a:ext cx="420624" cy="42062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50E6FF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892808"/>
            <a:ext cx="100977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1 · Register with ACSS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203704"/>
            <a:ext cx="10097719" cy="5417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Create a Virtual Instance for SAP (VIS) for SID S4H via Register-existing flow. Capture the screenshot.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28366"/>
            <a:ext cx="11057839" cy="998982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3217545"/>
            <a:ext cx="420624" cy="42062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50E6FF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3038094"/>
            <a:ext cx="100977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2 · Azure Monitor for SAP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3348990"/>
            <a:ext cx="10097719" cy="5417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Create the Monitor resource, add the SAP HANA provider. az workloads monitor (workloads extension).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73652"/>
            <a:ext cx="11057839" cy="998982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8096" y="4362831"/>
            <a:ext cx="420624" cy="42062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50E6FF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4183380"/>
            <a:ext cx="100977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3 · Azure Backup for HANA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4494276"/>
            <a:ext cx="10097719" cy="5417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Recovery Services Vault rsv-sapmh-lab; Full + Log policy (daily full, log every 15 min → near-zero RPO).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8938"/>
            <a:ext cx="11057839" cy="998982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8096" y="5508117"/>
            <a:ext cx="420624" cy="420624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50E6FF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5328666"/>
            <a:ext cx="1009771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B2545"/>
                </a:solidFill>
                <a:latin typeface="Segoe UI Semibold"/>
              </a:rPr>
              <a:t>Simulated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5639562"/>
            <a:ext cx="10097719" cy="5417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No real VM exists — walk the portal flow as a screenshot demo. Never hardcode passwords; use a Key Vault secret URI.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C2 · COPILOT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Generate the onboarding pack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44852"/>
            <a:ext cx="5346039" cy="3511296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44602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@moduleb-lab-coach  #generate-hld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958084"/>
            <a:ext cx="4797399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Customer: ACME Mfg (anon.)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Scope: S/4HANA 2023 greenfield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Region: Sweden Central, 2 AZ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HANA: Mv3, HSR sync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ASCS/ERS: Pacemaker + SBD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Storage: ANF · Net: ExpressRoute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mode: LLD  →  Low-Level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5152644"/>
            <a:ext cx="4797399" cy="420624"/>
          </a:xfrm>
          <a:prstGeom prst="roundRect">
            <a:avLst>
              <a:gd name="adj" fmla="val 30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5152644"/>
            <a:ext cx="4431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→ B42_HLD_v1 · B42_LLD_v1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2244852"/>
            <a:ext cx="5346039" cy="3511296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2446020"/>
            <a:ext cx="47973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50E6FF"/>
                </a:solidFill>
                <a:latin typeface="Segoe UI Semibold"/>
              </a:rPr>
              <a:t>@moduleb-lab-coach  #generate-runbook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58084"/>
            <a:ext cx="4797399" cy="2048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Type: cutover runbook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System: S/4HANA 2023 (SID S4H)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Approach: HSR takeover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Window: Sat 22:00 – Sun 06:00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+ go/no-go, rollback, on-call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Type: kt-plan   → KT sessions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onsolas"/>
              </a:rPr>
              <a:t>Type: hypercare → SLA + exit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53047" y="5152644"/>
            <a:ext cx="4797399" cy="420624"/>
          </a:xfrm>
          <a:prstGeom prst="roundRect">
            <a:avLst>
              <a:gd name="adj" fmla="val 30000"/>
            </a:avLst>
          </a:prstGeom>
          <a:solidFill>
            <a:srgbClr val="00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5927" y="5152644"/>
            <a:ext cx="4431639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→ MigrationRunbook · KTPlan · Hypercare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078D4"/>
                </a:solidFill>
                <a:latin typeface="Segoe UI Semibold"/>
              </a:rPr>
              <a:t>C2 · WHAT GOOD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B2545"/>
                </a:solidFill>
                <a:latin typeface="Segoe UI Semibold"/>
              </a:rPr>
              <a:t>Six B.4.2 onboarding-pack artefacts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10578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05E5C"/>
                </a:solidFill>
                <a:latin typeface="Segoe UI"/>
              </a:rPr>
              <a:t>Evidence folder:  </a:t>
            </a:r>
            <a:r>
              <a:rPr sz="1400" b="1" i="0">
                <a:solidFill>
                  <a:srgbClr val="005A9E"/>
                </a:solidFill>
                <a:latin typeface="Consolas"/>
              </a:rPr>
              <a:t>Module B / B4.2 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40280"/>
            <a:ext cx="11057839" cy="884682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240280"/>
            <a:ext cx="128016" cy="884682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481453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368296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B42_HLD_v1.pdf  ·  B42_LLD_v1.pdf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697480"/>
            <a:ext cx="9960559" cy="427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High- and Low-Level Design — compute, storage, network, HA/DR, management.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71266"/>
            <a:ext cx="11057839" cy="884682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271266"/>
            <a:ext cx="128016" cy="884682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3512439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399282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B42_MigrationRunbook_v1.pdf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728466"/>
            <a:ext cx="9960559" cy="427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Tested cutover runbook with per-step duration, go/no-go and rollback.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02252"/>
            <a:ext cx="11057839" cy="884682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302252"/>
            <a:ext cx="128016" cy="884682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4543425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430268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B42_KTPlan_v1.pdf  ·  B42_HypercarePlan_v1.pdf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759452"/>
            <a:ext cx="9960559" cy="427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KT plan (audience, sessions) + hypercare (SLA tiers, exit criteria).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333238"/>
            <a:ext cx="11057839" cy="884682"/>
          </a:xfrm>
          <a:prstGeom prst="roundRect">
            <a:avLst>
              <a:gd name="adj" fmla="val 7000"/>
            </a:avLst>
          </a:prstGeom>
          <a:solidFill>
            <a:srgbClr val="F3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333238"/>
            <a:ext cx="128016" cy="884682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7824" y="5574411"/>
            <a:ext cx="402336" cy="402336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0B2545"/>
                </a:solidFill>
                <a:latin typeface="Segoe UI Semibold"/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461254"/>
            <a:ext cx="99605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B2545"/>
                </a:solidFill>
                <a:latin typeface="Consolas"/>
              </a:rPr>
              <a:t>B42_ACSSRegistration_v1.pdf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790438"/>
            <a:ext cx="9960559" cy="427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05E5C"/>
                </a:solidFill>
                <a:latin typeface="Segoe UI"/>
              </a:rPr>
              <a:t>Screenshot/export of the ACSS VIS registration for SID S4H.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605E5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0207" y="64008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078D4"/>
                </a:solidFill>
                <a:latin typeface="Segoe UI"/>
              </a:rPr>
              <a:t>C2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110578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B900"/>
                </a:solidFill>
                <a:latin typeface="Segoe UI Semibold"/>
              </a:rPr>
              <a:t>TRAINER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Segoe UI Semibold"/>
              </a:rPr>
              <a:t>Timing &amp; facilitation  ·  total 75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MINUTE-BY-MINUTE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969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3969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B.4.2 intro + Activate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213969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70048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67004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ACSS registration (portal+CLI)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267004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0040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0040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Azure Monitor for SAP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3200400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7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73075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Azure Backup enable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730752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8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61104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6110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Onboarding pack (5 artefacts)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4261104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25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91456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79145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File + rename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4791456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5 min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321808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0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2180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Segoe UI"/>
              </a:rPr>
              <a:t>Buffer / Q&amp;A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0328" y="5321808"/>
            <a:ext cx="1005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50E6FF"/>
                </a:solidFill>
                <a:latin typeface="Segoe UI Semibold"/>
              </a:rPr>
              <a:t>10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1737360"/>
            <a:ext cx="511423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0E6FF"/>
                </a:solidFill>
                <a:latin typeface="Segoe UI Semibold"/>
              </a:rPr>
              <a:t>PITFALLS &amp; ANSWER KEY</a:t>
            </a:r>
          </a:p>
        </p:txBody>
      </p:sp>
      <p:sp>
        <p:nvSpPr>
          <p:cNvPr id="29" name="Oval 28"/>
          <p:cNvSpPr/>
          <p:nvPr/>
        </p:nvSpPr>
        <p:spPr>
          <a:xfrm>
            <a:off x="6510528" y="2194560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2139696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Kick off Microsoft.Workloads provider registration early — it can take 5–10 min.</a:t>
            </a:r>
          </a:p>
        </p:txBody>
      </p:sp>
      <p:sp>
        <p:nvSpPr>
          <p:cNvPr id="31" name="Oval 30"/>
          <p:cNvSpPr/>
          <p:nvPr/>
        </p:nvSpPr>
        <p:spPr>
          <a:xfrm>
            <a:off x="6510528" y="2761488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21424" y="2706624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In a fully simulated lab, show Monitor + Backup as portal screenshot demos only.</a:t>
            </a:r>
          </a:p>
        </p:txBody>
      </p:sp>
      <p:sp>
        <p:nvSpPr>
          <p:cNvPr id="33" name="Oval 32"/>
          <p:cNvSpPr/>
          <p:nvPr/>
        </p:nvSpPr>
        <p:spPr>
          <a:xfrm>
            <a:off x="6510528" y="3328416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1424" y="3273552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Pupils skip the LLD — remind them it's a distinct audit artefact with concrete IP/sizing numbers.</a:t>
            </a:r>
          </a:p>
        </p:txBody>
      </p:sp>
      <p:sp>
        <p:nvSpPr>
          <p:cNvPr id="35" name="Oval 34"/>
          <p:cNvSpPr/>
          <p:nvPr/>
        </p:nvSpPr>
        <p:spPr>
          <a:xfrm>
            <a:off x="6510528" y="4133088"/>
            <a:ext cx="146304" cy="146304"/>
          </a:xfrm>
          <a:prstGeom prst="ellipse">
            <a:avLst/>
          </a:prstGeom>
          <a:solidFill>
            <a:srgbClr val="FF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1424" y="4078224"/>
            <a:ext cx="480334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8EEF6"/>
                </a:solidFill>
                <a:latin typeface="Segoe UI"/>
              </a:rPr>
              <a:t>The agent keeps context in-session, so the LLD references the HLD automatically.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B4C6DC"/>
                </a:solidFill>
                <a:latin typeface="Segoe UI"/>
              </a:rPr>
              <a:t>SAP on Azure · Module B Accelerator — Train-the-Trainer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0207" y="64373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0E6FF"/>
                </a:solidFill>
                <a:latin typeface="Segoe UI"/>
              </a:rPr>
              <a:t>C2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