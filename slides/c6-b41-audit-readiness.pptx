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8415" y="0"/>
            <a:ext cx="3383280" cy="2286000"/>
          </a:xfrm>
          <a:prstGeom prst="rect">
            <a:avLst/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71455" y="0"/>
            <a:ext cx="1920240" cy="128016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4023360" cy="25603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601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SAP ON MICROSOFT AZURE · ADVANCED SPECIALIZATION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2194560" cy="603504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C6  ·  B.4.1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68880"/>
            <a:ext cx="1105783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Audit 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9768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E8EEF6"/>
                </a:solidFill>
                <a:latin typeface="Segoe UI"/>
              </a:rPr>
              <a:t>Assemble the Module B evidence pack and let Copilot validate folder structure, naming convention and completeness.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21208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0E6FF"/>
                </a:solidFill>
                <a:latin typeface="Segoe UI Semibold"/>
              </a:rPr>
              <a:t>⏱  ~60 min</a:t>
            </a:r>
            <a:r>
              <a:rPr sz="1500" b="1" i="0">
                <a:solidFill>
                  <a:srgbClr val="605E5C"/>
                </a:solidFill>
                <a:latin typeface="Segoe UI Semibold"/>
              </a:rPr>
              <a:t>   |   </a:t>
            </a:r>
            <a:r>
              <a:rPr sz="1500" b="1" i="0">
                <a:solidFill>
                  <a:srgbClr val="50E6FF"/>
                </a:solidFill>
                <a:latin typeface="Segoe UI Semibold"/>
              </a:rPr>
              <a:t>🧑‍🏫  Facilitator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C6 · 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By the end of this lab you can…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975104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737360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Create the </a:t>
            </a:r>
            <a:r>
              <a:rPr sz="1650" b="0" i="0">
                <a:solidFill>
                  <a:srgbClr val="005A9E"/>
                </a:solidFill>
                <a:latin typeface="Consolas"/>
              </a:rPr>
              <a:t>Module B / B[ref] /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 folder structure and populate it from C1–C5 artefacts.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16352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3054096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816352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Use </a:t>
            </a:r>
            <a:r>
              <a:rPr sz="1650" b="1" i="0">
                <a:solidFill>
                  <a:srgbClr val="005A9E"/>
                </a:solidFill>
                <a:latin typeface="Consolas"/>
              </a:rPr>
              <a:t>#build-evidence-index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 to generate an evidence index with one row per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95344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895344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6" y="4133088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895344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Validate naming convention and completeness using Copilot.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74336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974336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521208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974336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Produce a pre-audit review record, appoint a SPOC, and file </a:t>
            </a:r>
            <a:r>
              <a:rPr sz="1650" b="0" i="0">
                <a:solidFill>
                  <a:srgbClr val="005A9E"/>
                </a:solidFill>
                <a:latin typeface="Consolas"/>
              </a:rPr>
              <a:t>B41_EvidenceIndex_v1.pdf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C6 · THE EVIDENCE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Folder structure &amp; naming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5486400" cy="420624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0E6FF"/>
                </a:solidFill>
                <a:latin typeface="Consolas"/>
              </a:rPr>
              <a:t>Module B/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54203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└─ B.1.1/  B11_CaseStudy · B11_ArchitectureDiagram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07238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└─ B.2.1/  B21_ACRBreakdown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60273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└─ B.2.2/  B22_CustomerList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413308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└─ B.3.1/  B31_SkillingMapping · B31_AZ120Transcript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46634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B900"/>
                </a:solidFill>
                <a:latin typeface="Consolas"/>
              </a:rPr>
              <a:t>└─ B.4.1/  B41_EvidenceIndex · B41_PreAuditReview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519379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└─ B.4.2/  B42_HLD · B42_LLD · B42_MigrationRunbook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783080"/>
            <a:ext cx="5114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NAMING CONVENTION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157984"/>
            <a:ext cx="51142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2545"/>
                </a:solidFill>
                <a:latin typeface="Consolas"/>
              </a:rPr>
              <a:t>[ControlRef]_[DocumentType]_v[N].pdf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0528" y="2743200"/>
            <a:ext cx="5114239" cy="731520"/>
          </a:xfrm>
          <a:prstGeom prst="roundRect">
            <a:avLst>
              <a:gd name="adj" fmla="val 10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2834640"/>
            <a:ext cx="4657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5A9E"/>
                </a:solidFill>
                <a:latin typeface="Consolas"/>
              </a:rPr>
              <a:t>[ControlRef]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3127248"/>
            <a:ext cx="4657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Two-digit, no dot — B21, B31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0528" y="3566160"/>
            <a:ext cx="5114239" cy="731520"/>
          </a:xfrm>
          <a:prstGeom prst="roundRect">
            <a:avLst>
              <a:gd name="adj" fmla="val 10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657600"/>
            <a:ext cx="4657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5A9E"/>
                </a:solidFill>
                <a:latin typeface="Consolas"/>
              </a:rPr>
              <a:t>[DocumentType]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950208"/>
            <a:ext cx="4657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PascalCase, no spaces — CaseStudy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4389120"/>
            <a:ext cx="5114239" cy="731520"/>
          </a:xfrm>
          <a:prstGeom prst="roundRect">
            <a:avLst>
              <a:gd name="adj" fmla="val 10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4480560"/>
            <a:ext cx="4657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5A9E"/>
                </a:solidFill>
                <a:latin typeface="Consolas"/>
              </a:rPr>
              <a:t>v[N]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8" y="4773168"/>
            <a:ext cx="4657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Version integer from 1 — v1, v2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0528" y="5212080"/>
            <a:ext cx="5114239" cy="731520"/>
          </a:xfrm>
          <a:prstGeom prst="roundRect">
            <a:avLst>
              <a:gd name="adj" fmla="val 10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9128" y="5303520"/>
            <a:ext cx="4657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5A9E"/>
                </a:solidFill>
                <a:latin typeface="Consolas"/>
              </a:rPr>
              <a:t>.pdf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5596128"/>
            <a:ext cx="4657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PDF for submissions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C6 · COPILOT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Index, validate,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44852"/>
            <a:ext cx="5346039" cy="3511296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446020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@moduleb-lab-coach  #build-evidence-index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958084"/>
            <a:ext cx="4797399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Scan Module B/ and produce: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1. index: Control | Ref |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   DocumentType | File | Status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2. completeness — any control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   with no artefact = MISSING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3. naming validation 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   bad names = INVALID_NAME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152644"/>
            <a:ext cx="4797399" cy="420624"/>
          </a:xfrm>
          <a:prstGeom prst="roundRect">
            <a:avLst>
              <a:gd name="adj" fmla="val 30000"/>
            </a:avLst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5152644"/>
            <a:ext cx="44316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→ B41_EvidenceIndex_v1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244852"/>
            <a:ext cx="5346039" cy="3511296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2446020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Then: pre-audit review + SPOC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58084"/>
            <a:ext cx="4797399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Generate a pre-audit review: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· date, attendees, 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· SPOC (single point of contact)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  name · email · phone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· outcome: READY / NOT READY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SPOC = who the auditor contacts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(usually the Practice Lead).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3047" y="5152644"/>
            <a:ext cx="4797399" cy="420624"/>
          </a:xfrm>
          <a:prstGeom prst="roundRect">
            <a:avLst>
              <a:gd name="adj" fmla="val 30000"/>
            </a:avLst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5927" y="5152644"/>
            <a:ext cx="44316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→ B41_PreAuditReview_v1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C6 · WHAT GOOD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Two B.4.1 audit-readiness artefacts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Evidence folder:  </a:t>
            </a:r>
            <a:r>
              <a:rPr sz="1400" b="1" i="0">
                <a:solidFill>
                  <a:srgbClr val="005A9E"/>
                </a:solidFill>
                <a:latin typeface="Consolas"/>
              </a:rPr>
              <a:t>Module B / B4.1 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40280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40280"/>
            <a:ext cx="128016" cy="9144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496312"/>
            <a:ext cx="402336" cy="402336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2545"/>
                </a:solidFill>
                <a:latin typeface="Segoe UI Semibold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368296"/>
            <a:ext cx="99605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onsolas"/>
              </a:rPr>
              <a:t>B41_EvidenceIndex_v1.pdf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697480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One row per control, completeness + naming validated, with a declaration statement.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300984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300984"/>
            <a:ext cx="128016" cy="9144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557016"/>
            <a:ext cx="402336" cy="402336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2545"/>
                </a:solidFill>
                <a:latin typeface="Segoe UI Semibold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429000"/>
            <a:ext cx="99605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onsolas"/>
              </a:rPr>
              <a:t>B41_PreAuditReview_v1.pdf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758184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Dated review record, READY/NOT-READY outcome, and a named SPOC for the auditor.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B900"/>
                </a:solidFill>
                <a:latin typeface="Segoe UI Semibold"/>
              </a:rPr>
              <a:t>TRAINER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Segoe UI Semibold"/>
              </a:rPr>
              <a:t>Timing &amp; facilitation  ·  total 60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0E6FF"/>
                </a:solidFill>
                <a:latin typeface="Segoe UI Semibold"/>
              </a:rPr>
              <a:t>MINUTE-BY-MINUTE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39696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3969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B.4.1 intro — auditor's first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0328" y="2139696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70048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70048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Create folder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670048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8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40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00400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Copy / placeholder artefacts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20040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7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30752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730752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#build-evidence-index + 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730752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15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61104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261104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Evidence index 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4261104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10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791456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79145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Pre-audit review + SPOC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4791456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10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321808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321808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Final completeness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5321808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1737360"/>
            <a:ext cx="51142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0E6FF"/>
                </a:solidFill>
                <a:latin typeface="Segoe UI Semibold"/>
              </a:rPr>
              <a:t>PITFALLS &amp; ANSWER KEY</a:t>
            </a:r>
          </a:p>
        </p:txBody>
      </p:sp>
      <p:sp>
        <p:nvSpPr>
          <p:cNvPr id="29" name="Oval 28"/>
          <p:cNvSpPr/>
          <p:nvPr/>
        </p:nvSpPr>
        <p:spPr>
          <a:xfrm>
            <a:off x="6510528" y="2194560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1424" y="2139696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A MISSING entry for B.4.1 early on is expected — pupils generate those artefacts in the final two steps.</a:t>
            </a:r>
          </a:p>
        </p:txBody>
      </p:sp>
      <p:sp>
        <p:nvSpPr>
          <p:cNvPr id="31" name="Oval 30"/>
          <p:cNvSpPr/>
          <p:nvPr/>
        </p:nvSpPr>
        <p:spPr>
          <a:xfrm>
            <a:off x="6510528" y="2999232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1424" y="2944368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INVALID_NAME is a teaching moment: a file named "case study final FINAL.pdf" fails — rename to the convention.</a:t>
            </a:r>
          </a:p>
        </p:txBody>
      </p:sp>
      <p:sp>
        <p:nvSpPr>
          <p:cNvPr id="33" name="Oval 32"/>
          <p:cNvSpPr/>
          <p:nvPr/>
        </p:nvSpPr>
        <p:spPr>
          <a:xfrm>
            <a:off x="6510528" y="3803904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1424" y="3749040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Folder structure + naming validation are non-negotiable: exactly what the Microsoft auditor checks first.</a:t>
            </a:r>
          </a:p>
        </p:txBody>
      </p:sp>
      <p:sp>
        <p:nvSpPr>
          <p:cNvPr id="35" name="Oval 34"/>
          <p:cNvSpPr/>
          <p:nvPr/>
        </p:nvSpPr>
        <p:spPr>
          <a:xfrm>
            <a:off x="6510528" y="4608576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1424" y="4553712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Tight on time? Copilot can produce the index + review in one combined prompt.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B4C6D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0207" y="643737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0E6FF"/>
                </a:solidFill>
                <a:latin typeface="Segoe UI"/>
              </a:rPr>
              <a:t>C6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