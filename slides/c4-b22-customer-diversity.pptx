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8415" y="0"/>
            <a:ext cx="3383280" cy="2286000"/>
          </a:xfrm>
          <a:prstGeom prst="rect">
            <a:avLst/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71455" y="0"/>
            <a:ext cx="1920240" cy="1280160"/>
          </a:xfrm>
          <a:prstGeom prst="rect">
            <a:avLst/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4023360" cy="25603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601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0E6FF"/>
                </a:solidFill>
                <a:latin typeface="Segoe UI Semibold"/>
              </a:rPr>
              <a:t>SAP ON MICROSOFT AZURE · ADVANCED SPECIALIZATION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2194560" cy="603504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C4  ·  B.2.2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68880"/>
            <a:ext cx="1105783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Segoe UI Semibold"/>
              </a:rPr>
              <a:t>Customer Diversity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9768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E8EEF6"/>
                </a:solidFill>
                <a:latin typeface="Segoe UI"/>
              </a:rPr>
              <a:t>Model three unique SAP customers via PAL/DPOR/CSP and let Copilot build the customer list and cross-reference 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21208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0E6FF"/>
                </a:solidFill>
                <a:latin typeface="Segoe UI Semibold"/>
              </a:rPr>
              <a:t>⏱  ~45 min</a:t>
            </a:r>
            <a:r>
              <a:rPr sz="1500" b="1" i="0">
                <a:solidFill>
                  <a:srgbClr val="605E5C"/>
                </a:solidFill>
                <a:latin typeface="Segoe UI Semibold"/>
              </a:rPr>
              <a:t>   |   </a:t>
            </a:r>
            <a:r>
              <a:rPr sz="1500" b="1" i="0">
                <a:solidFill>
                  <a:srgbClr val="50E6FF"/>
                </a:solidFill>
                <a:latin typeface="Segoe UI Semibold"/>
              </a:rPr>
              <a:t>🧑‍🏫  Facilitator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C4 · 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By the end of this lab you can…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11057839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109728" cy="9326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1975104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737360"/>
            <a:ext cx="9777679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42424"/>
                </a:solidFill>
                <a:latin typeface="Segoe UI"/>
              </a:rPr>
              <a:t>Explain the three attribution types and identify which applies to each customer.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16352"/>
            <a:ext cx="11057839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816352"/>
            <a:ext cx="109728" cy="9326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3054096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816352"/>
            <a:ext cx="9777679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42424"/>
                </a:solidFill>
                <a:latin typeface="Segoe UI"/>
              </a:rPr>
              <a:t>Use </a:t>
            </a:r>
            <a:r>
              <a:rPr sz="1650" b="1" i="0">
                <a:solidFill>
                  <a:srgbClr val="005A9E"/>
                </a:solidFill>
                <a:latin typeface="Consolas"/>
              </a:rPr>
              <a:t>#build-customer-crossref</a:t>
            </a:r>
            <a:r>
              <a:rPr sz="1650" b="0" i="0">
                <a:solidFill>
                  <a:srgbClr val="242424"/>
                </a:solidFill>
                <a:latin typeface="Segoe UI"/>
              </a:rPr>
              <a:t> to turn a By-Customer export into an anonymised list + cross-reference 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95344"/>
            <a:ext cx="11057839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895344"/>
            <a:ext cx="109728" cy="9326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9536" y="4133088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895344"/>
            <a:ext cx="9777679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42424"/>
                </a:solidFill>
                <a:latin typeface="Segoe UI"/>
              </a:rPr>
              <a:t>Link each customer to a B.1.1 case study and a B.3.1 skilling holder.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74336"/>
            <a:ext cx="11057839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974336"/>
            <a:ext cx="109728" cy="9326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521208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974336"/>
            <a:ext cx="9777679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42424"/>
                </a:solidFill>
                <a:latin typeface="Segoe UI"/>
              </a:rPr>
              <a:t>Identify and remediate ineligible attribution cases.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C4 · WHAT B.2.2 REQUIRES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Three or more unique SAP customers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605E5C"/>
                </a:solidFill>
                <a:latin typeface="Segoe UI"/>
              </a:rPr>
              <a:t>"Unique" = distinct Azure tenants/subscriptions, each with a valid attribution link. One large customer split across many subscriptions still counts as one.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2628900"/>
            <a:ext cx="146304" cy="14630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551176"/>
            <a:ext cx="10600639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42424"/>
                </a:solidFill>
                <a:latin typeface="Segoe UI"/>
              </a:rPr>
              <a:t>Auditors cross-check </a:t>
            </a:r>
            <a:r>
              <a:rPr sz="1650" b="0" i="0">
                <a:solidFill>
                  <a:srgbClr val="242424"/>
                </a:solidFill>
                <a:latin typeface="Segoe UI"/>
              </a:rPr>
              <a:t>each customer back to a case study or DPOR record — </a:t>
            </a:r>
            <a:r>
              <a:rPr sz="1650" b="0" i="0">
                <a:solidFill>
                  <a:srgbClr val="005A9E"/>
                </a:solidFill>
                <a:latin typeface="Consolas"/>
              </a:rPr>
              <a:t>#build-customer-crossref</a:t>
            </a:r>
            <a:r>
              <a:rPr sz="1650" b="0" i="0">
                <a:solidFill>
                  <a:srgbClr val="242424"/>
                </a:solidFill>
                <a:latin typeface="Segoe UI"/>
              </a:rPr>
              <a:t> does that automatically.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3451860"/>
            <a:ext cx="146304" cy="14630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374136"/>
            <a:ext cx="10600639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A85200"/>
                </a:solidFill>
                <a:latin typeface="Segoe UI"/>
              </a:rPr>
              <a:t>Watch-out: </a:t>
            </a:r>
            <a:r>
              <a:rPr sz="1650" b="0" i="0">
                <a:solidFill>
                  <a:srgbClr val="242424"/>
                </a:solidFill>
                <a:latin typeface="Segoe UI"/>
              </a:rPr>
              <a:t>government/sovereign subs via PAL may not qualify; DPOR records &gt; 24 months may be stale.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274820"/>
            <a:ext cx="146304" cy="14630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4197096"/>
            <a:ext cx="10600639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A85200"/>
                </a:solidFill>
                <a:latin typeface="Segoe UI"/>
              </a:rPr>
              <a:t>Not three customers: </a:t>
            </a:r>
            <a:r>
              <a:rPr sz="1650" b="0" i="0">
                <a:solidFill>
                  <a:srgbClr val="242424"/>
                </a:solidFill>
                <a:latin typeface="Segoe UI"/>
              </a:rPr>
              <a:t>the same tenant listed three times under different subscription names.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C4 · ATTRIBUTION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PAL · DPOR · CSP at a glance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91640"/>
          <a:ext cx="11057837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5783"/>
                <a:gridCol w="2653881"/>
                <a:gridCol w="4423135"/>
                <a:gridCol w="2875038"/>
              </a:tblGrid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Type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Full name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How it works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Notes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PAL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Partner Admin Link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Partner user gets Owner/Contributor, links MPN ID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Fastest; gov subs excluded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DPOR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Digital Partner of Record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Nominated in Azure / Cloud Marketplace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Set by customer or CSP admin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CSP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Cloud Solution Provider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Partner is direct CSP reseller for the sub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Via Partner Center data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C4 · COPILOT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Build the customer cross-reference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23694"/>
            <a:ext cx="5346039" cy="3753612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324862"/>
            <a:ext cx="4797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0E6FF"/>
                </a:solidFill>
                <a:latin typeface="Segoe UI Semibold"/>
              </a:rPr>
              <a:t>@moduleb-lab-coach  #build-customer-crossref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836926"/>
            <a:ext cx="4797399" cy="22905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on customers.json — produce: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1. anonymised customer list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   (alias, industry, attribution,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    SAP systems)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2. cross-reference: each customer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   → B.1.1 case study + B.3.1 holder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3. flag any ineligible attribution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5273802"/>
            <a:ext cx="4797399" cy="420624"/>
          </a:xfrm>
          <a:prstGeom prst="roundRect">
            <a:avLst>
              <a:gd name="adj" fmla="val 30000"/>
            </a:avLst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5273802"/>
            <a:ext cx="44316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→ B22_CustomerList_v1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123694"/>
            <a:ext cx="5346039" cy="3753612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3047" y="2324862"/>
            <a:ext cx="4797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0E6FF"/>
                </a:solidFill>
                <a:latin typeface="Segoe UI Semibold"/>
              </a:rPr>
              <a:t>Sample — 3 unique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836926"/>
            <a:ext cx="4797399" cy="22905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Contoso Mfg   PAL   ECC 6.0 / Mv2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Fabrikam Retail  DPOR  S/4HANA PCE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Northwind Fin   CSP   BW/4HANA / SSDv2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All three: valid, distinct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attribution → B.2.2 ✓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CSP is fully eligible for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commercial Azure.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C4 · WHAT GOOD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One B.2.2 evidence artefact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605E5C"/>
                </a:solidFill>
                <a:latin typeface="Segoe UI"/>
              </a:rPr>
              <a:t>Evidence folder:  </a:t>
            </a:r>
            <a:r>
              <a:rPr sz="1400" b="1" i="0">
                <a:solidFill>
                  <a:srgbClr val="005A9E"/>
                </a:solidFill>
                <a:latin typeface="Consolas"/>
              </a:rPr>
              <a:t>Module B / B2.2 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240280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240280"/>
            <a:ext cx="128016" cy="9144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2496312"/>
            <a:ext cx="402336" cy="402336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B2545"/>
                </a:solidFill>
                <a:latin typeface="Segoe UI Semibold"/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368296"/>
            <a:ext cx="99605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2545"/>
                </a:solidFill>
                <a:latin typeface="Consolas"/>
              </a:rPr>
              <a:t>B22_CustomerList_v1.pdf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697480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05E5C"/>
                </a:solidFill>
                <a:latin typeface="Segoe UI"/>
              </a:rPr>
              <a:t>Anonymised customer list + attribution cross-reference linking each customer to a B.1.1 case study and B.3.1 skilling holder.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B900"/>
                </a:solidFill>
                <a:latin typeface="Segoe UI Semibold"/>
              </a:rPr>
              <a:t>TRAINER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Segoe UI Semibold"/>
              </a:rPr>
              <a:t>Timing &amp; facilitation  ·  total 45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3736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0E6FF"/>
                </a:solidFill>
                <a:latin typeface="Segoe UI Semibold"/>
              </a:rPr>
              <a:t>MINUTE-BY-MINUTE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39696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39696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B.2.2 intro + 3-customer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0328" y="2139696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70048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70048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Review By-Customer sample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2670048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7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00400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00400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#build-customer-crossref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3200400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12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30752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730752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Verify attribution eligibility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3730752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10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261104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261104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Cross-ref to B.1.1 + remediation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4261104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8 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791456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791456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Buffer / Q&amp;A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0328" y="4791456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3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1737360"/>
            <a:ext cx="51142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0E6FF"/>
                </a:solidFill>
                <a:latin typeface="Segoe UI Semibold"/>
              </a:rPr>
              <a:t>PITFALLS &amp; ANSWER KEY</a:t>
            </a:r>
          </a:p>
        </p:txBody>
      </p:sp>
      <p:sp>
        <p:nvSpPr>
          <p:cNvPr id="26" name="Oval 25"/>
          <p:cNvSpPr/>
          <p:nvPr/>
        </p:nvSpPr>
        <p:spPr>
          <a:xfrm>
            <a:off x="6510528" y="2194560"/>
            <a:ext cx="146304" cy="146304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21424" y="2139696"/>
            <a:ext cx="48033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8EEF6"/>
                </a:solidFill>
                <a:latin typeface="Segoe UI"/>
              </a:rPr>
              <a:t>Answer key: sample data has 3 valid, distinct types (PAL, DPOR, CSP). CSP is eligible for commercial Azure.</a:t>
            </a:r>
          </a:p>
        </p:txBody>
      </p:sp>
      <p:sp>
        <p:nvSpPr>
          <p:cNvPr id="28" name="Oval 27"/>
          <p:cNvSpPr/>
          <p:nvPr/>
        </p:nvSpPr>
        <p:spPr>
          <a:xfrm>
            <a:off x="6510528" y="2999232"/>
            <a:ext cx="146304" cy="146304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21424" y="2944368"/>
            <a:ext cx="48033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8EEF6"/>
                </a:solidFill>
                <a:latin typeface="Segoe UI"/>
              </a:rPr>
              <a:t>Remediation drill: PAL via a deleted service principal stops accruing — re-link via an active user + request a data refresh (24–48 h).</a:t>
            </a:r>
          </a:p>
        </p:txBody>
      </p:sp>
      <p:sp>
        <p:nvSpPr>
          <p:cNvPr id="30" name="Oval 29"/>
          <p:cNvSpPr/>
          <p:nvPr/>
        </p:nvSpPr>
        <p:spPr>
          <a:xfrm>
            <a:off x="6510528" y="3803904"/>
            <a:ext cx="146304" cy="146304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21424" y="3749040"/>
            <a:ext cx="48033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8EEF6"/>
                </a:solidFill>
                <a:latin typeface="Segoe UI"/>
              </a:rPr>
              <a:t>Re-delivery: CSP-only audience? Focus Step 3 on the Partner Center CSP tab; show PAL/DPOR quickly for contrast.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B4C6D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0207" y="643737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0E6FF"/>
                </a:solidFill>
                <a:latin typeface="Segoe UI"/>
              </a:rPr>
              <a:t>C4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