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8415" y="0"/>
            <a:ext cx="3383280" cy="2286000"/>
          </a:xfrm>
          <a:prstGeom prst="rect">
            <a:avLst/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71455" y="0"/>
            <a:ext cx="1920240" cy="128016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4023360" cy="25603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601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SAP ON MICROSOFT AZURE · ADVANCED SPECIALIZATION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2194560" cy="603504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C5  ·  B.3.1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68880"/>
            <a:ext cx="1105783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Skilling (AZ-120 or Learning Path)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9768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E8EEF6"/>
                </a:solidFill>
                <a:latin typeface="Segoe UI"/>
              </a:rPr>
              <a:t>Build a skilling plan and let Copilot map your team to AZ-120 / Run SAP on the Microsoft Cloud and flag gaps.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21208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0E6FF"/>
                </a:solidFill>
                <a:latin typeface="Segoe UI Semibold"/>
              </a:rPr>
              <a:t>⏱  ~45 min</a:t>
            </a:r>
            <a:r>
              <a:rPr sz="1500" b="1" i="0">
                <a:solidFill>
                  <a:srgbClr val="605E5C"/>
                </a:solidFill>
                <a:latin typeface="Segoe UI Semibold"/>
              </a:rPr>
              <a:t>   |   </a:t>
            </a:r>
            <a:r>
              <a:rPr sz="1500" b="1" i="0">
                <a:solidFill>
                  <a:srgbClr val="50E6FF"/>
                </a:solidFill>
                <a:latin typeface="Segoe UI Semibold"/>
              </a:rPr>
              <a:t>🧑‍🏫  Facilitator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C5 · 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By the end of this lab you can…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975104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737360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Compare AZ-120 and the "Run SAP on the Microsoft Cloud" learning path for B.3.1 eligibility.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16352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816352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3054096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816352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Use </a:t>
            </a:r>
            <a:r>
              <a:rPr sz="1650" b="1" i="0">
                <a:solidFill>
                  <a:srgbClr val="005A9E"/>
                </a:solidFill>
                <a:latin typeface="Consolas"/>
              </a:rPr>
              <a:t>#build-skilling-plan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 to generate a skilling mapping table from a team CSV.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95344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895344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6" y="4133088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895344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Produce a per-person Microsoft Learn study plan for team members with gaps.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74336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974336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521208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974336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Identify stale AZ-120 certs (past 1-year validity) and produce </a:t>
            </a:r>
            <a:r>
              <a:rPr sz="1650" b="0" i="0">
                <a:solidFill>
                  <a:srgbClr val="005A9E"/>
                </a:solidFill>
                <a:latin typeface="Consolas"/>
              </a:rPr>
              <a:t>B31_SkillingMapping_v1.pdf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C5 · THE TWO 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Two staff must satisfy one route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91640"/>
          <a:ext cx="11057837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0411"/>
                <a:gridCol w="4533713"/>
                <a:gridCol w="4533713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/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AZ-120 certification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Run SAP on MS Cloud (Learn)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Depth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Full exam certification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Self-paced path (~8 h)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Validity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1 yr (free online renewal)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No expiry (badge on completion)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Cost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~USD 165 exam fee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Free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Audience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SAP Basis + Azure admins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SAP + Azure newcomers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Evidence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Cert transcript PDF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MS Learn export / badge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For B.3.1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Highest credibility ✓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Accepted, fastest route ✓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C5 · COPILOT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Map the team, flag the gaps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44852"/>
            <a:ext cx="5346039" cy="3511296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446020"/>
            <a:ext cx="4797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@moduleb-lab-coach  #build-skilling-plan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958084"/>
            <a:ext cx="4797399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on team-skilling.csv — produce: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1. mapping: name → route →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   completion → expiry / N/A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2. status: COMPLIANT /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   EXPIRING SOON (&lt;6mo) / GAP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3. recommended action per 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152644"/>
            <a:ext cx="4797399" cy="420624"/>
          </a:xfrm>
          <a:prstGeom prst="roundRect">
            <a:avLst>
              <a:gd name="adj" fmla="val 30000"/>
            </a:avLst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5152644"/>
            <a:ext cx="44316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→ B31_SkillingMapping_v1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244852"/>
            <a:ext cx="5346039" cy="3511296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2446020"/>
            <a:ext cx="4797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Answer key (sample 6-person team)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58084"/>
            <a:ext cx="4797399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2 × COMPLIANT (1 AZ-120,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        1 learning path)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Frank: AZ-120 lapsed  → GAP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Bob:   inside 6-mo window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     → EXPIRING SOON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Fix: free AZ-120 online renewal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assessment — no exam needed.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C5 · THE STUDY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4-week plan for gap holders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91640"/>
          <a:ext cx="11057837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4627"/>
                <a:gridCol w="4423135"/>
                <a:gridCol w="1548097"/>
                <a:gridCol w="4201978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Week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Modules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Daily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Milestone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Introduction + HANA on Azure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30 min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HANA module quiz passed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NetWeaver/S4 + Migration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30 min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Migration quiz passed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Monitoring + Operations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30 min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All modules complete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Review + badge claim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20 min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Completion badge issued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1970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“Run SAP on the Microsoft Cloud” is the fastest route to compliance — free, no exam, badge on completion.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C5 · WHAT GOOD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B.3.1 skilling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05E5C"/>
                </a:solidFill>
                <a:latin typeface="Segoe UI"/>
              </a:rPr>
              <a:t>Evidence folder:  </a:t>
            </a:r>
            <a:r>
              <a:rPr sz="1400" b="1" i="0">
                <a:solidFill>
                  <a:srgbClr val="005A9E"/>
                </a:solidFill>
                <a:latin typeface="Consolas"/>
              </a:rPr>
              <a:t>Module B / B3.1 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40280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40280"/>
            <a:ext cx="128016" cy="9144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496312"/>
            <a:ext cx="402336" cy="402336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2545"/>
                </a:solidFill>
                <a:latin typeface="Segoe UI Semibold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368296"/>
            <a:ext cx="99605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onsolas"/>
              </a:rPr>
              <a:t>B31_SkillingMapping_v1.pdf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697480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Mapping table for the whole team + recommended actions and 4-week study plans for gap holders.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300984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300984"/>
            <a:ext cx="128016" cy="9144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557016"/>
            <a:ext cx="402336" cy="402336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2545"/>
                </a:solidFill>
                <a:latin typeface="Segoe UI Semibold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429000"/>
            <a:ext cx="99605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onsolas"/>
              </a:rPr>
              <a:t>B31_AZ120Transcript_[Name]_v1.pdf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758184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Per-person cert transcript or MS Learn completion export — at least two COMPLIANT individuals.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B900"/>
                </a:solidFill>
                <a:latin typeface="Segoe UI Semibold"/>
              </a:rPr>
              <a:t>TRAINER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Segoe UI Semibold"/>
              </a:rPr>
              <a:t>Timing &amp; facilitation  ·  total 45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0E6FF"/>
                </a:solidFill>
                <a:latin typeface="Segoe UI Semibold"/>
              </a:rPr>
              <a:t>MINUTE-BY-MINUTE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39696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39696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B.3.1 intro + route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0328" y="2139696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8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70048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70048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Review team skilling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2670048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0040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00400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#build-skilling-plan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3200400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12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30752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730752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Study plan for gap holders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730752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10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261104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261104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Export Learn evidence + 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4261104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1737360"/>
            <a:ext cx="51142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0E6FF"/>
                </a:solidFill>
                <a:latin typeface="Segoe UI Semibold"/>
              </a:rPr>
              <a:t>PITFALLS &amp; ANSWER KEY</a:t>
            </a:r>
          </a:p>
        </p:txBody>
      </p:sp>
      <p:sp>
        <p:nvSpPr>
          <p:cNvPr id="23" name="Oval 22"/>
          <p:cNvSpPr/>
          <p:nvPr/>
        </p:nvSpPr>
        <p:spPr>
          <a:xfrm>
            <a:off x="6510528" y="2194560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1424" y="2139696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SAP Basis audience usually has the SAP knowledge — point them at the "SAP on Azure administration" Learn module to fill the Azure gap fast.</a:t>
            </a:r>
          </a:p>
        </p:txBody>
      </p:sp>
      <p:sp>
        <p:nvSpPr>
          <p:cNvPr id="25" name="Oval 24"/>
          <p:cNvSpPr/>
          <p:nvPr/>
        </p:nvSpPr>
        <p:spPr>
          <a:xfrm>
            <a:off x="6510528" y="3236976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1424" y="3182112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AZ-120 now has a free online renewal assessment — an EXPIRING SOON cert doesn't need a re-sit.</a:t>
            </a:r>
          </a:p>
        </p:txBody>
      </p:sp>
      <p:sp>
        <p:nvSpPr>
          <p:cNvPr id="27" name="Oval 26"/>
          <p:cNvSpPr/>
          <p:nvPr/>
        </p:nvSpPr>
        <p:spPr>
          <a:xfrm>
            <a:off x="6510528" y="4041648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1424" y="3986784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Re-delivery: already-certified room? Shorten Step 3 to 10 min; focus on the mapping + compliance check.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B4C6D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0207" y="643737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0E6FF"/>
                </a:solidFill>
                <a:latin typeface="Segoe UI"/>
              </a:rPr>
              <a:t>C5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