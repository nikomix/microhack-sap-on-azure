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30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92608" y="320040"/>
            <a:ext cx="2743200" cy="384048"/>
          </a:xfrm>
          <a:prstGeom prst="roundRect">
            <a:avLst>
              <a:gd name="adj" fmla="val 11905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92608" y="3200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C4 · B.2.2 Customer Diversity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321040" y="320040"/>
            <a:ext cx="640080" cy="384048"/>
          </a:xfrm>
          <a:prstGeom prst="roundRect">
            <a:avLst>
              <a:gd name="adj" fmla="val 11905"/>
            </a:avLst>
          </a:prstGeom>
          <a:solidFill>
            <a:srgbClr val="50E6FF">
              <a:alpha val="80000"/>
            </a:srgbClr>
          </a:solidFill>
          <a:ln w="12700">
            <a:solidFill>
              <a:srgbClr val="50E6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21040" y="32004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30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B.2.2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92608" y="1005840"/>
            <a:ext cx="85039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Customer Diversity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&amp; Attribution Evidence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292608" y="2606040"/>
            <a:ext cx="8503920" cy="0"/>
          </a:xfrm>
          <a:prstGeom prst="line">
            <a:avLst/>
          </a:prstGeom>
          <a:noFill/>
          <a:ln w="25400">
            <a:solidFill>
              <a:srgbClr val="0078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2608" y="2743200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0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Control B.2.2 — Three or more unique SAP customers on Azure, each with valid attribution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132320" y="4434840"/>
            <a:ext cx="1737360" cy="411480"/>
          </a:xfrm>
          <a:prstGeom prst="roundRect">
            <a:avLst>
              <a:gd name="adj" fmla="val 11111"/>
            </a:avLst>
          </a:prstGeom>
          <a:solidFill>
            <a:srgbClr val="106EBE"/>
          </a:solidFill>
          <a:ln w="12700">
            <a:solidFill>
              <a:srgbClr val="106EB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0" y="4434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⏱ ~45 min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92608" y="4800600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B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SAP on Microsoft Azure · Advanced Specialization · Train-the-Trainer Microhack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3057"/>
          </a:solidFill>
          <a:ln w="12700">
            <a:solidFill>
              <a:srgbClr val="0030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Learning Objectives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960120"/>
            <a:ext cx="859536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Explain the three attribution types (PAL / DPOR / CSP) and identify which applies to each customer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the build-customer-crossref skill to produce an anonymised customer list and cross-reference table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Link each customer to a B.1.1 case study and a B.3.1 skilling holder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Identify and remediate ineligible attribution cases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3057"/>
          </a:solidFill>
          <a:ln w="12700">
            <a:solidFill>
              <a:srgbClr val="0030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B.2.2 — The Rule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051560"/>
            <a:ext cx="256032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D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051560"/>
            <a:ext cx="2560320" cy="13716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37160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3+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594360" y="269748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Unique customers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" y="342900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A9B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Distinct Azure tenants or billing subs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91840" y="1051560"/>
            <a:ext cx="256032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D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91840" y="1051560"/>
            <a:ext cx="2560320" cy="137160"/>
          </a:xfrm>
          <a:prstGeom prst="rect">
            <a:avLst/>
          </a:prstGeom>
          <a:solidFill>
            <a:srgbClr val="106EBE"/>
          </a:solidFill>
          <a:ln w="12700">
            <a:solidFill>
              <a:srgbClr val="106EB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0" y="137160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06EB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5200" dirty="0"/>
          </a:p>
        </p:txBody>
      </p:sp>
      <p:sp>
        <p:nvSpPr>
          <p:cNvPr id="13" name="Text 11"/>
          <p:cNvSpPr/>
          <p:nvPr/>
        </p:nvSpPr>
        <p:spPr>
          <a:xfrm>
            <a:off x="3383280" y="269748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Attribution types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383280" y="342900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A9B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PAL · DPOR · CSP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80760" y="1051560"/>
            <a:ext cx="256032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DF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80760" y="1051560"/>
            <a:ext cx="2560320" cy="137160"/>
          </a:xfrm>
          <a:prstGeom prst="rect">
            <a:avLst/>
          </a:prstGeom>
          <a:solidFill>
            <a:srgbClr val="C19C00"/>
          </a:solidFill>
          <a:ln w="12700">
            <a:solidFill>
              <a:srgbClr val="C19C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137160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C19C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5200" dirty="0"/>
          </a:p>
        </p:txBody>
      </p:sp>
      <p:sp>
        <p:nvSpPr>
          <p:cNvPr id="18" name="Text 16"/>
          <p:cNvSpPr/>
          <p:nvPr/>
        </p:nvSpPr>
        <p:spPr>
          <a:xfrm>
            <a:off x="6172200" y="269748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Months check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172200" y="342900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A9B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DPOR records expire — verify in Partner Center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0" y="4754880"/>
            <a:ext cx="9144000" cy="384048"/>
          </a:xfrm>
          <a:prstGeom prst="rect">
            <a:avLst/>
          </a:prstGeom>
          <a:solidFill>
            <a:srgbClr val="E8EDF4"/>
          </a:solidFill>
          <a:ln w="12700">
            <a:solidFill>
              <a:srgbClr val="E8ED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4754880"/>
            <a:ext cx="73152" cy="384048"/>
          </a:xfrm>
          <a:prstGeom prst="rect">
            <a:avLst/>
          </a:prstGeom>
          <a:solidFill>
            <a:srgbClr val="106EBE"/>
          </a:solidFill>
          <a:ln w="12700">
            <a:solidFill>
              <a:srgbClr val="106EB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7160" y="47548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🎓 Trainer: listing the same tenant three times under different subscription names is NOT three customers.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3057"/>
          </a:solidFill>
          <a:ln w="12700">
            <a:solidFill>
              <a:srgbClr val="0030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Sample Customer Data — Three Customers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85953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280160"/>
                <a:gridCol w="34747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Customer Alias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Industry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Attribution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SAP Systems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5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Contoso Manufacturing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Manufacturing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ECC 6.0 on Mv2, ANF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Fabrikam Retail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Retail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DPOR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S/4HANA Cloud Private Edition on M-series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Northwind Finance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Financial Services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CSP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BW/4HANA on Premium SSD v2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754880"/>
            <a:ext cx="9144000" cy="384048"/>
          </a:xfrm>
          <a:prstGeom prst="rect">
            <a:avLst/>
          </a:prstGeom>
          <a:solidFill>
            <a:srgbClr val="E8EDF4"/>
          </a:solidFill>
          <a:ln w="12700">
            <a:solidFill>
              <a:srgbClr val="E8EDF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0" y="4754880"/>
            <a:ext cx="73152" cy="384048"/>
          </a:xfrm>
          <a:prstGeom prst="rect">
            <a:avLst/>
          </a:prstGeom>
          <a:solidFill>
            <a:srgbClr val="106EBE"/>
          </a:solidFill>
          <a:ln w="12700">
            <a:solidFill>
              <a:srgbClr val="106EB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37160" y="47548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🎓 Trainer: all three have valid distinct attribution types (PAL, DPOR, CSP) — answer key: all pass B.2.2.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3057"/>
          </a:solidFill>
          <a:ln w="12700">
            <a:solidFill>
              <a:srgbClr val="0030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Attribution Types Compared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859536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194560"/>
                <a:gridCol w="3291840"/>
                <a:gridCol w="23774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Type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Full Name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How It Works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Notes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5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Partner Admin Link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Partner user gets Owner/Contributor and links MPN ID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Fastest; gov subs excluded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DPOR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Digital Partner of Record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Nominated in Azure Marketplace / Cloud Marketplace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May expire after 24 months — check Partner Center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CSP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Cloud Solution Provider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Partner is direct CSP reseller for the subscription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Counted via Partner Center transaction data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3057"/>
          </a:solidFill>
          <a:ln w="12700">
            <a:solidFill>
              <a:srgbClr val="0030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Steps — Agenda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51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77240" y="1005840"/>
            <a:ext cx="3703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DF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1005840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 By-Customer sample data (JSON)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1307592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B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min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" y="1856232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18562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77240" y="1810512"/>
            <a:ext cx="3703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DF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1810512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customer list + cross-reference (skill)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68680" y="2112264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B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min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2660904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266090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77240" y="2615184"/>
            <a:ext cx="3703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DF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2615184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Verify attribution eligibility (portal/Partner Center)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68680" y="291693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B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min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63440" y="1051560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1051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166360" y="1005840"/>
            <a:ext cx="3703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DF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57800" y="1005840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Cross-reference to B.1.1 case studies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257800" y="1307592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B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min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663440" y="1856232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63440" y="18562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166360" y="1810512"/>
            <a:ext cx="3703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DF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257800" y="1810512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Fix ineligible cases (discussion exercise)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257800" y="2112264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B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min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440" y="2660904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663440" y="266090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166360" y="2615184"/>
            <a:ext cx="3703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DF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57800" y="2615184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Q&amp;A / buffer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257800" y="291693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B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min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3057"/>
          </a:solidFill>
          <a:ln w="12700">
            <a:solidFill>
              <a:srgbClr val="0030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2 — build-customer-crossref Skill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960120"/>
            <a:ext cx="859536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06EB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Prompt: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06EB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@moduleb-lab-coach Run the build-customer-crossref skill on labs/challenge-4-customer-diversity/sample-data/customers.json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06EB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Expected output: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Anonymised customer list table (alias, industry, attribution type, SAP systems)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Cross-reference table linking each customer to their B.1.1 case study ref and B.3.1 skilling holder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Flag for any customers whose attribution may be ineligible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i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Save output to: labs/challenge-4-customer-diversity/evidence/B22_CustomerList_v1.md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0" y="4754880"/>
            <a:ext cx="9144000" cy="384048"/>
          </a:xfrm>
          <a:prstGeom prst="rect">
            <a:avLst/>
          </a:prstGeom>
          <a:solidFill>
            <a:srgbClr val="E8EDF4"/>
          </a:solidFill>
          <a:ln w="12700">
            <a:solidFill>
              <a:srgbClr val="E8EDF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4754880"/>
            <a:ext cx="73152" cy="384048"/>
          </a:xfrm>
          <a:prstGeom prst="rect">
            <a:avLst/>
          </a:prstGeom>
          <a:solidFill>
            <a:srgbClr val="106EBE"/>
          </a:solidFill>
          <a:ln w="12700">
            <a:solidFill>
              <a:srgbClr val="106EB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47548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🎓 Trainer: in the sample data, all three customers pass. Use Step 5 to explore the 'deleted SP' remediation scenario.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3057"/>
          </a:solidFill>
          <a:ln w="12700">
            <a:solidFill>
              <a:srgbClr val="0030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Common Pitfalls &amp; Remediation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960120"/>
            <a:ext cx="859536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06EB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Pitfall: PAL linked via a service principal that was deleted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Impact: ACR stops accruing at deletion date. B.2.2 attribution count may drop below 3.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Fix: re-link PAL via an active user account → request Partner Center data refresh (24–48 h)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06EB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Pitfall: DPOR records older than 24 months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Partner Center → Customers → [name] → Subscriptions for expiry date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06EB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Pitfall: Government / sovereign subscriptions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Government, China, Germany PAL attribution does NOT count toward commercial B.2.2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0" y="4754880"/>
            <a:ext cx="9144000" cy="384048"/>
          </a:xfrm>
          <a:prstGeom prst="rect">
            <a:avLst/>
          </a:prstGeom>
          <a:solidFill>
            <a:srgbClr val="E8EDF4"/>
          </a:solidFill>
          <a:ln w="12700">
            <a:solidFill>
              <a:srgbClr val="E8EDF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4754880"/>
            <a:ext cx="73152" cy="384048"/>
          </a:xfrm>
          <a:prstGeom prst="rect">
            <a:avLst/>
          </a:prstGeom>
          <a:solidFill>
            <a:srgbClr val="106EBE"/>
          </a:solidFill>
          <a:ln w="12700">
            <a:solidFill>
              <a:srgbClr val="106EB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47548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🎓 Trainer: explore the deleted-SP scenario with Copilot: '@moduleb-lab-coach Customer X has PAL via a deleted SP...'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30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34272" y="0"/>
            <a:ext cx="109728" cy="514350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0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Key Takeaways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C4 Complete — B.2.2 Evidence Produced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920240"/>
            <a:ext cx="82296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D0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customers identified, each with a distinct attribution type (PAL / DPOR / CSP)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D0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Customer list table produced — anonymised, industry, attribution, SAP systems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D0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Cross-reference table links each customer to a B.1.1 case study ref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D0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ineligible attribution flags remain unresolved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D0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file B22_CustomerList_v1.pdf ready for assembly in C6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0" y="4754880"/>
            <a:ext cx="9144000" cy="38404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475488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SAP on Microsoft Azure · Advanced Specialization · Train-the-Trainer Microhack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C4 · B.2.2 Customer Diversity</dc:title>
  <dc:subject>SAP on Azure Advanced Specialization B.2.2</dc:subject>
  <dc:creator>SAP on Azure Microhack (AI-generated facilitator deck)</dc:creator>
  <cp:lastModifiedBy>SAP on Azure Microhack (AI-generated facilitator deck)</cp:lastModifiedBy>
  <cp:revision>1</cp:revision>
  <dcterms:created xsi:type="dcterms:W3CDTF">2026-06-26T23:42:23Z</dcterms:created>
  <dcterms:modified xsi:type="dcterms:W3CDTF">2026-06-26T23:42:23Z</dcterms:modified>
</cp:coreProperties>
</file>